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8321040" cy="4526280"/>
          </a:xfrm>
          <a:prstGeom prst="roundRect">
            <a:avLst>
              <a:gd name="adj" fmla="val 3636"/>
            </a:avLst>
          </a:prstGeom>
          <a:solidFill>
            <a:srgbClr val="112E22">
              <a:alpha val="90000"/>
            </a:srgbClr>
          </a:solidFill>
          <a:ln w="19050">
            <a:solidFill>
              <a:srgbClr val="1C4A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926080" y="685800"/>
            <a:ext cx="3291840" cy="438912"/>
          </a:xfrm>
          <a:prstGeom prst="roundRect">
            <a:avLst>
              <a:gd name="adj" fmla="val 50000"/>
            </a:avLst>
          </a:prstGeom>
          <a:solidFill>
            <a:srgbClr val="0D2B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685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</a:rPr>
              <a:t>PORTFOLIO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0FF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Ludomanski Budni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E7B7"/>
                </a:solidFill>
              </a:rPr>
              <a:t>Sports Betting Platform — Educational Full-Stack Project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286000" y="3291840"/>
            <a:ext cx="4572000" cy="320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Shape 6"/>
          <p:cNvSpPr/>
          <p:nvPr/>
        </p:nvSpPr>
        <p:spPr>
          <a:xfrm>
            <a:off x="754380" y="356616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193D2E"/>
          </a:solidFill>
          <a:ln w="12700">
            <a:solidFill>
              <a:srgbClr val="1C4A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" y="3566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E7B7"/>
                </a:solidFill>
              </a:rPr>
              <a:t>Vanilla JS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20340" y="356616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193D2E"/>
          </a:solidFill>
          <a:ln w="12700">
            <a:solidFill>
              <a:srgbClr val="1C4A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0340" y="3566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E7B7"/>
                </a:solidFill>
              </a:rPr>
              <a:t>Firebase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86300" y="356616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193D2E"/>
          </a:solidFill>
          <a:ln w="12700">
            <a:solidFill>
              <a:srgbClr val="1C4A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6300" y="3566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E7B7"/>
                </a:solidFill>
              </a:rPr>
              <a:t>Real-time API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52260" y="356616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193D2E"/>
          </a:solidFill>
          <a:ln w="12700">
            <a:solidFill>
              <a:srgbClr val="1C4A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2260" y="3566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E7B7"/>
                </a:solidFill>
              </a:rPr>
              <a:t>Node.js / Express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6EE7B7"/>
                </a:solidFill>
              </a:rPr>
              <a:t>CURATED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FF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Project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3657600" cy="3383280"/>
          </a:xfrm>
          <a:prstGeom prst="roundRect">
            <a:avLst>
              <a:gd name="adj" fmla="val 4054"/>
            </a:avLst>
          </a:prstGeom>
          <a:solidFill>
            <a:srgbClr val="112E22"/>
          </a:solidFill>
          <a:ln w="15240">
            <a:solidFill>
              <a:srgbClr val="1C4A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08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C55E"/>
                </a:solidFill>
              </a:rPr>
              <a:t>LUDOMANSKI BUDNI  • 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F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Educational Bookmaker Platform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200400" cy="27432"/>
          </a:xfrm>
          <a:prstGeom prst="rect">
            <a:avLst/>
          </a:prstGeom>
          <a:solidFill>
            <a:srgbClr val="1C4A3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03580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299923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FF8"/>
                </a:solidFill>
              </a:rPr>
              <a:t>8 sports — Football, CS2, UFC, F1 &amp; more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5661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352958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FF8"/>
                </a:solidFill>
              </a:rPr>
              <a:t>4 external APIs with data normalization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09651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1248" y="405993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FF8"/>
                </a:solidFill>
              </a:rPr>
              <a:t>Firebase Firestore — balance, profile, bets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206240" y="1371600"/>
            <a:ext cx="4663440" cy="3383280"/>
          </a:xfrm>
          <a:prstGeom prst="roundRect">
            <a:avLst>
              <a:gd name="adj" fmla="val 4054"/>
            </a:avLst>
          </a:prstGeom>
          <a:solidFill>
            <a:srgbClr val="071810"/>
          </a:solidFill>
          <a:ln w="15240">
            <a:solidFill>
              <a:srgbClr val="1C4A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206240" y="1371600"/>
            <a:ext cx="4663440" cy="384048"/>
          </a:xfrm>
          <a:prstGeom prst="rect">
            <a:avLst/>
          </a:prstGeom>
          <a:solidFill>
            <a:srgbClr val="0A1F14"/>
          </a:solidFill>
          <a:ln/>
        </p:spPr>
      </p:sp>
      <p:sp>
        <p:nvSpPr>
          <p:cNvPr id="16" name="Text 11"/>
          <p:cNvSpPr/>
          <p:nvPr/>
        </p:nvSpPr>
        <p:spPr>
          <a:xfrm>
            <a:off x="4251960" y="138988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</a:rPr>
              <a:t>⚽  Football    🏀  Basketball    🎮  CS2    🏒  Hockey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343400" y="1874520"/>
            <a:ext cx="4389120" cy="1005840"/>
          </a:xfrm>
          <a:prstGeom prst="roundRect">
            <a:avLst>
              <a:gd name="adj" fmla="val 9091"/>
            </a:avLst>
          </a:prstGeom>
          <a:solidFill>
            <a:srgbClr val="0F2820"/>
          </a:solidFill>
          <a:ln w="10160">
            <a:solidFill>
              <a:srgbClr val="1C4A3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462272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FF8"/>
                </a:solidFill>
              </a:rPr>
              <a:t>Man City vs Arsenal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462272" y="22219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LIVE 67'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462272" y="2496312"/>
            <a:ext cx="1280160" cy="301752"/>
          </a:xfrm>
          <a:prstGeom prst="roundRect">
            <a:avLst>
              <a:gd name="adj" fmla="val 21212"/>
            </a:avLst>
          </a:prstGeom>
          <a:solidFill>
            <a:srgbClr val="193D2E"/>
          </a:solidFill>
          <a:ln/>
        </p:spPr>
      </p:sp>
      <p:sp>
        <p:nvSpPr>
          <p:cNvPr id="21" name="Text 16"/>
          <p:cNvSpPr/>
          <p:nvPr/>
        </p:nvSpPr>
        <p:spPr>
          <a:xfrm>
            <a:off x="4462272" y="249631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</a:rPr>
              <a:t>П1  2.10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879592" y="2496312"/>
            <a:ext cx="1280160" cy="301752"/>
          </a:xfrm>
          <a:prstGeom prst="roundRect">
            <a:avLst>
              <a:gd name="adj" fmla="val 21212"/>
            </a:avLst>
          </a:prstGeom>
          <a:solidFill>
            <a:srgbClr val="193D2E"/>
          </a:solidFill>
          <a:ln/>
        </p:spPr>
      </p:sp>
      <p:sp>
        <p:nvSpPr>
          <p:cNvPr id="23" name="Text 18"/>
          <p:cNvSpPr/>
          <p:nvPr/>
        </p:nvSpPr>
        <p:spPr>
          <a:xfrm>
            <a:off x="5879592" y="249631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</a:rPr>
              <a:t>X  3.40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296912" y="2496312"/>
            <a:ext cx="1280160" cy="301752"/>
          </a:xfrm>
          <a:prstGeom prst="roundRect">
            <a:avLst>
              <a:gd name="adj" fmla="val 21212"/>
            </a:avLst>
          </a:prstGeom>
          <a:solidFill>
            <a:srgbClr val="193D2E"/>
          </a:solidFill>
          <a:ln/>
        </p:spPr>
      </p:sp>
      <p:sp>
        <p:nvSpPr>
          <p:cNvPr id="25" name="Text 20"/>
          <p:cNvSpPr/>
          <p:nvPr/>
        </p:nvSpPr>
        <p:spPr>
          <a:xfrm>
            <a:off x="7296912" y="249631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</a:rPr>
              <a:t>П2  3.80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343400" y="3063240"/>
            <a:ext cx="4389120" cy="1005840"/>
          </a:xfrm>
          <a:prstGeom prst="roundRect">
            <a:avLst>
              <a:gd name="adj" fmla="val 9091"/>
            </a:avLst>
          </a:prstGeom>
          <a:solidFill>
            <a:srgbClr val="0F2820"/>
          </a:solidFill>
          <a:ln w="10160">
            <a:solidFill>
              <a:srgbClr val="1C4A3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462272" y="3154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FF8"/>
                </a:solidFill>
              </a:rPr>
              <a:t>PSG vs Bayern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462272" y="34107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</a:rPr>
              <a:t>18:00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462272" y="3685032"/>
            <a:ext cx="1280160" cy="301752"/>
          </a:xfrm>
          <a:prstGeom prst="roundRect">
            <a:avLst>
              <a:gd name="adj" fmla="val 21212"/>
            </a:avLst>
          </a:prstGeom>
          <a:solidFill>
            <a:srgbClr val="193D2E"/>
          </a:solidFill>
          <a:ln/>
        </p:spPr>
      </p:sp>
      <p:sp>
        <p:nvSpPr>
          <p:cNvPr id="30" name="Text 25"/>
          <p:cNvSpPr/>
          <p:nvPr/>
        </p:nvSpPr>
        <p:spPr>
          <a:xfrm>
            <a:off x="4462272" y="368503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</a:rPr>
              <a:t>П1  2.66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879592" y="3685032"/>
            <a:ext cx="1280160" cy="301752"/>
          </a:xfrm>
          <a:prstGeom prst="roundRect">
            <a:avLst>
              <a:gd name="adj" fmla="val 21212"/>
            </a:avLst>
          </a:prstGeom>
          <a:solidFill>
            <a:srgbClr val="193D2E"/>
          </a:solidFill>
          <a:ln/>
        </p:spPr>
      </p:sp>
      <p:sp>
        <p:nvSpPr>
          <p:cNvPr id="32" name="Text 27"/>
          <p:cNvSpPr/>
          <p:nvPr/>
        </p:nvSpPr>
        <p:spPr>
          <a:xfrm>
            <a:off x="5879592" y="368503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</a:rPr>
              <a:t>X  3.31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7296912" y="3685032"/>
            <a:ext cx="1280160" cy="301752"/>
          </a:xfrm>
          <a:prstGeom prst="roundRect">
            <a:avLst>
              <a:gd name="adj" fmla="val 21212"/>
            </a:avLst>
          </a:prstGeom>
          <a:solidFill>
            <a:srgbClr val="193D2E"/>
          </a:solidFill>
          <a:ln/>
        </p:spPr>
      </p:sp>
      <p:sp>
        <p:nvSpPr>
          <p:cNvPr id="34" name="Text 29"/>
          <p:cNvSpPr/>
          <p:nvPr/>
        </p:nvSpPr>
        <p:spPr>
          <a:xfrm>
            <a:off x="7296912" y="368503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</a:rPr>
              <a:t>П2  2.03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400" kern="0" dirty="0">
                <a:solidFill>
                  <a:srgbClr val="F0FF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1920240" cy="4023360"/>
          </a:xfrm>
          <a:prstGeom prst="roundRect">
            <a:avLst>
              <a:gd name="adj" fmla="val 7143"/>
            </a:avLst>
          </a:prstGeom>
          <a:solidFill>
            <a:srgbClr val="112E22"/>
          </a:solidFill>
          <a:ln w="2286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987552"/>
            <a:ext cx="640080" cy="640080"/>
          </a:xfrm>
          <a:prstGeom prst="ellipse">
            <a:avLst/>
          </a:prstGeom>
          <a:solidFill>
            <a:srgbClr val="0F2820"/>
          </a:solidFill>
          <a:ln w="19050">
            <a:solidFill>
              <a:srgbClr val="22C5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097280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7190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Frontend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65760" y="2212848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0C2419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22128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FF8"/>
                </a:solidFill>
              </a:rPr>
              <a:t>Vanilla JS ES2022+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788920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0C2419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2788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FF8"/>
                </a:solidFill>
              </a:rPr>
              <a:t>HTML5 / CSS3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3364992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0C2419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33649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FF8"/>
                </a:solidFill>
              </a:rPr>
              <a:t>Firebase JS SDK v12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3941064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0C2419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394106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FF8"/>
                </a:solidFill>
              </a:rPr>
              <a:t>Glassmorphism UI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359152" y="868680"/>
            <a:ext cx="1920240" cy="4023360"/>
          </a:xfrm>
          <a:prstGeom prst="roundRect">
            <a:avLst>
              <a:gd name="adj" fmla="val 7143"/>
            </a:avLst>
          </a:prstGeom>
          <a:solidFill>
            <a:srgbClr val="112E22"/>
          </a:solidFill>
          <a:ln w="22860">
            <a:solidFill>
              <a:srgbClr val="EAB30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999232" y="987552"/>
            <a:ext cx="640080" cy="640080"/>
          </a:xfrm>
          <a:prstGeom prst="ellipse">
            <a:avLst/>
          </a:prstGeom>
          <a:solidFill>
            <a:srgbClr val="0F2820"/>
          </a:solidFill>
          <a:ln w="19050">
            <a:solidFill>
              <a:srgbClr val="EAB30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097280"/>
            <a:ext cx="420624" cy="4206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04872" y="17190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B308"/>
                </a:solidFill>
              </a:rPr>
              <a:t>Backend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2450592" y="2212848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0C2419"/>
          </a:solidFill>
          <a:ln/>
        </p:spPr>
      </p:sp>
      <p:sp>
        <p:nvSpPr>
          <p:cNvPr id="20" name="Text 16"/>
          <p:cNvSpPr/>
          <p:nvPr/>
        </p:nvSpPr>
        <p:spPr>
          <a:xfrm>
            <a:off x="2450592" y="22128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FF8"/>
                </a:solidFill>
              </a:rPr>
              <a:t>Node.js / Express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2450592" y="2788920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0C2419"/>
          </a:solidFill>
          <a:ln/>
        </p:spPr>
      </p:sp>
      <p:sp>
        <p:nvSpPr>
          <p:cNvPr id="22" name="Text 18"/>
          <p:cNvSpPr/>
          <p:nvPr/>
        </p:nvSpPr>
        <p:spPr>
          <a:xfrm>
            <a:off x="2450592" y="2788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FF8"/>
                </a:solidFill>
              </a:rPr>
              <a:t>REST Proxy Server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2450592" y="3364992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0C2419"/>
          </a:solidFill>
          <a:ln/>
        </p:spPr>
      </p:sp>
      <p:sp>
        <p:nvSpPr>
          <p:cNvPr id="24" name="Text 20"/>
          <p:cNvSpPr/>
          <p:nvPr/>
        </p:nvSpPr>
        <p:spPr>
          <a:xfrm>
            <a:off x="2450592" y="33649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FF8"/>
                </a:solidFill>
              </a:rPr>
              <a:t>CORS &amp; Rate-limit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450592" y="3941064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0C2419"/>
          </a:solidFill>
          <a:ln/>
        </p:spPr>
      </p:sp>
      <p:sp>
        <p:nvSpPr>
          <p:cNvPr id="26" name="Text 22"/>
          <p:cNvSpPr/>
          <p:nvPr/>
        </p:nvSpPr>
        <p:spPr>
          <a:xfrm>
            <a:off x="2450592" y="394106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FF8"/>
                </a:solidFill>
              </a:rPr>
              <a:t>Render.com deploy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443984" y="868680"/>
            <a:ext cx="1920240" cy="4023360"/>
          </a:xfrm>
          <a:prstGeom prst="roundRect">
            <a:avLst>
              <a:gd name="adj" fmla="val 7143"/>
            </a:avLst>
          </a:prstGeom>
          <a:solidFill>
            <a:srgbClr val="112E22"/>
          </a:solidFill>
          <a:ln w="2286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084064" y="987552"/>
            <a:ext cx="640080" cy="640080"/>
          </a:xfrm>
          <a:prstGeom prst="ellipse">
            <a:avLst/>
          </a:prstGeom>
          <a:solidFill>
            <a:srgbClr val="0F2820"/>
          </a:solidFill>
          <a:ln w="19050">
            <a:solidFill>
              <a:srgbClr val="22C55E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1097280"/>
            <a:ext cx="420624" cy="42062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489704" y="17190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Data / Auth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4535424" y="2212848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0C2419"/>
          </a:solidFill>
          <a:ln/>
        </p:spPr>
      </p:sp>
      <p:sp>
        <p:nvSpPr>
          <p:cNvPr id="32" name="Text 27"/>
          <p:cNvSpPr/>
          <p:nvPr/>
        </p:nvSpPr>
        <p:spPr>
          <a:xfrm>
            <a:off x="4535424" y="22128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FF8"/>
                </a:solidFill>
              </a:rPr>
              <a:t>Firebase Firestore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535424" y="2788920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0C2419"/>
          </a:solidFill>
          <a:ln/>
        </p:spPr>
      </p:sp>
      <p:sp>
        <p:nvSpPr>
          <p:cNvPr id="34" name="Text 29"/>
          <p:cNvSpPr/>
          <p:nvPr/>
        </p:nvSpPr>
        <p:spPr>
          <a:xfrm>
            <a:off x="4535424" y="2788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FF8"/>
                </a:solidFill>
              </a:rPr>
              <a:t>Firebase Auth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4535424" y="3364992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0C2419"/>
          </a:solidFill>
          <a:ln/>
        </p:spPr>
      </p:sp>
      <p:sp>
        <p:nvSpPr>
          <p:cNvPr id="36" name="Text 31"/>
          <p:cNvSpPr/>
          <p:nvPr/>
        </p:nvSpPr>
        <p:spPr>
          <a:xfrm>
            <a:off x="4535424" y="33649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FF8"/>
                </a:solidFill>
              </a:rPr>
              <a:t>LocalStorage cache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4535424" y="3941064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0C2419"/>
          </a:solidFill>
          <a:ln/>
        </p:spPr>
      </p:sp>
      <p:sp>
        <p:nvSpPr>
          <p:cNvPr id="38" name="Text 33"/>
          <p:cNvSpPr/>
          <p:nvPr/>
        </p:nvSpPr>
        <p:spPr>
          <a:xfrm>
            <a:off x="4535424" y="394106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FF8"/>
                </a:solidFill>
              </a:rPr>
              <a:t>Session-based flow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528816" y="868680"/>
            <a:ext cx="1920240" cy="4023360"/>
          </a:xfrm>
          <a:prstGeom prst="roundRect">
            <a:avLst>
              <a:gd name="adj" fmla="val 7143"/>
            </a:avLst>
          </a:prstGeom>
          <a:solidFill>
            <a:srgbClr val="112E22"/>
          </a:solidFill>
          <a:ln w="2286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7168896" y="987552"/>
            <a:ext cx="640080" cy="640080"/>
          </a:xfrm>
          <a:prstGeom prst="ellipse">
            <a:avLst/>
          </a:prstGeom>
          <a:solidFill>
            <a:srgbClr val="0F2820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4" y="1097280"/>
            <a:ext cx="420624" cy="420624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574536" y="17190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4899"/>
                </a:solidFill>
              </a:rPr>
              <a:t>External APIs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620256" y="2212848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0C2419"/>
          </a:solidFill>
          <a:ln/>
        </p:spPr>
      </p:sp>
      <p:sp>
        <p:nvSpPr>
          <p:cNvPr id="44" name="Text 38"/>
          <p:cNvSpPr/>
          <p:nvPr/>
        </p:nvSpPr>
        <p:spPr>
          <a:xfrm>
            <a:off x="6620256" y="22128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FF8"/>
                </a:solidFill>
              </a:rPr>
              <a:t>API-Football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6620256" y="2788920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0C2419"/>
          </a:solidFill>
          <a:ln/>
        </p:spPr>
      </p:sp>
      <p:sp>
        <p:nvSpPr>
          <p:cNvPr id="46" name="Text 40"/>
          <p:cNvSpPr/>
          <p:nvPr/>
        </p:nvSpPr>
        <p:spPr>
          <a:xfrm>
            <a:off x="6620256" y="2788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FF8"/>
                </a:solidFill>
              </a:rPr>
              <a:t>PandaScore CS2</a:t>
            </a:r>
            <a:endParaRPr 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6620256" y="3364992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0C2419"/>
          </a:solidFill>
          <a:ln/>
        </p:spPr>
      </p:sp>
      <p:sp>
        <p:nvSpPr>
          <p:cNvPr id="48" name="Text 42"/>
          <p:cNvSpPr/>
          <p:nvPr/>
        </p:nvSpPr>
        <p:spPr>
          <a:xfrm>
            <a:off x="6620256" y="33649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FF8"/>
                </a:solidFill>
              </a:rPr>
              <a:t>API-Basketball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6620256" y="3941064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0C2419"/>
          </a:solidFill>
          <a:ln/>
        </p:spPr>
      </p:sp>
      <p:sp>
        <p:nvSpPr>
          <p:cNvPr id="50" name="Text 44"/>
          <p:cNvSpPr/>
          <p:nvPr/>
        </p:nvSpPr>
        <p:spPr>
          <a:xfrm>
            <a:off x="6620256" y="394106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FF8"/>
                </a:solidFill>
              </a:rPr>
              <a:t>API-Hockey / MMA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6EE7B7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FF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Can Do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2651760" cy="1645920"/>
          </a:xfrm>
          <a:prstGeom prst="roundRect">
            <a:avLst>
              <a:gd name="adj" fmla="val 8333"/>
            </a:avLst>
          </a:prstGeom>
          <a:solidFill>
            <a:srgbClr val="112E22"/>
          </a:solidFill>
          <a:ln w="15240">
            <a:solidFill>
              <a:srgbClr val="1C4A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89888"/>
            <a:ext cx="548640" cy="548640"/>
          </a:xfrm>
          <a:prstGeom prst="ellipse">
            <a:avLst/>
          </a:prstGeom>
          <a:solidFill>
            <a:srgbClr val="0C2419"/>
          </a:solidFill>
          <a:ln w="15240">
            <a:solidFill>
              <a:srgbClr val="22C5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90472"/>
            <a:ext cx="365760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40817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FF8"/>
                </a:solidFill>
              </a:rPr>
              <a:t>Live &amp; Upcoming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192024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</a:rPr>
              <a:t>Real matches with live statuses, scores and match minutes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207008"/>
            <a:ext cx="2651760" cy="1645920"/>
          </a:xfrm>
          <a:prstGeom prst="roundRect">
            <a:avLst>
              <a:gd name="adj" fmla="val 8333"/>
            </a:avLst>
          </a:prstGeom>
          <a:solidFill>
            <a:srgbClr val="112E22"/>
          </a:solidFill>
          <a:ln w="15240">
            <a:solidFill>
              <a:srgbClr val="1C4A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389888"/>
            <a:ext cx="548640" cy="548640"/>
          </a:xfrm>
          <a:prstGeom prst="ellipse">
            <a:avLst/>
          </a:prstGeom>
          <a:solidFill>
            <a:srgbClr val="0C2419"/>
          </a:solidFill>
          <a:ln w="15240">
            <a:solidFill>
              <a:srgbClr val="22C55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490472"/>
            <a:ext cx="365760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140817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FF8"/>
                </a:solidFill>
              </a:rPr>
              <a:t>Betslip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383280" y="192024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</a:rPr>
              <a:t>Accumulator coupon with total odds calculation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80760" y="1207008"/>
            <a:ext cx="2651760" cy="1645920"/>
          </a:xfrm>
          <a:prstGeom prst="roundRect">
            <a:avLst>
              <a:gd name="adj" fmla="val 8333"/>
            </a:avLst>
          </a:prstGeom>
          <a:solidFill>
            <a:srgbClr val="112E22"/>
          </a:solidFill>
          <a:ln w="15240">
            <a:solidFill>
              <a:srgbClr val="1C4A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389888"/>
            <a:ext cx="548640" cy="548640"/>
          </a:xfrm>
          <a:prstGeom prst="ellipse">
            <a:avLst/>
          </a:prstGeom>
          <a:solidFill>
            <a:srgbClr val="0C2419"/>
          </a:solidFill>
          <a:ln w="15240">
            <a:solidFill>
              <a:srgbClr val="22C55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90472"/>
            <a:ext cx="365760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40817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FF8"/>
                </a:solidFill>
              </a:rPr>
              <a:t>Cash-out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17920" y="192024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</a:rPr>
              <a:t>Dynamic cash-out amount based on match progress and score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11480" y="3017520"/>
            <a:ext cx="2651760" cy="1645920"/>
          </a:xfrm>
          <a:prstGeom prst="roundRect">
            <a:avLst>
              <a:gd name="adj" fmla="val 8333"/>
            </a:avLst>
          </a:prstGeom>
          <a:solidFill>
            <a:srgbClr val="112E22"/>
          </a:solidFill>
          <a:ln w="15240">
            <a:solidFill>
              <a:srgbClr val="1C4A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rgbClr val="0C2419"/>
          </a:solidFill>
          <a:ln w="15240">
            <a:solidFill>
              <a:srgbClr val="22C55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00984"/>
            <a:ext cx="365760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2186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FF8"/>
                </a:solidFill>
              </a:rPr>
              <a:t>8 Sports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48640" y="3730752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</a:rPr>
              <a:t>Football, CS2, Basketball, Hockey, UFC, Boxing, Volleyball, F1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246120" y="3017520"/>
            <a:ext cx="2651760" cy="1645920"/>
          </a:xfrm>
          <a:prstGeom prst="roundRect">
            <a:avLst>
              <a:gd name="adj" fmla="val 8333"/>
            </a:avLst>
          </a:prstGeom>
          <a:solidFill>
            <a:srgbClr val="112E22"/>
          </a:solidFill>
          <a:ln w="15240">
            <a:solidFill>
              <a:srgbClr val="1C4A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83280" y="3200400"/>
            <a:ext cx="548640" cy="548640"/>
          </a:xfrm>
          <a:prstGeom prst="ellipse">
            <a:avLst/>
          </a:prstGeom>
          <a:solidFill>
            <a:srgbClr val="0C2419"/>
          </a:solidFill>
          <a:ln w="15240">
            <a:solidFill>
              <a:srgbClr val="22C55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300984"/>
            <a:ext cx="365760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23360" y="32186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FF8"/>
                </a:solidFill>
              </a:rPr>
              <a:t>Search &amp; Filters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3383280" y="3730752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</a:rPr>
              <a:t>Team search, league sorting (Top-5, Euro, and more)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080760" y="3017520"/>
            <a:ext cx="2651760" cy="1645920"/>
          </a:xfrm>
          <a:prstGeom prst="roundRect">
            <a:avLst>
              <a:gd name="adj" fmla="val 8333"/>
            </a:avLst>
          </a:prstGeom>
          <a:solidFill>
            <a:srgbClr val="112E22"/>
          </a:solidFill>
          <a:ln w="15240">
            <a:solidFill>
              <a:srgbClr val="1C4A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3200400"/>
            <a:ext cx="548640" cy="548640"/>
          </a:xfrm>
          <a:prstGeom prst="ellipse">
            <a:avLst/>
          </a:prstGeom>
          <a:solidFill>
            <a:srgbClr val="0C2419"/>
          </a:solidFill>
          <a:ln w="15240">
            <a:solidFill>
              <a:srgbClr val="22C55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300984"/>
            <a:ext cx="365760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0" y="32186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FF8"/>
                </a:solidFill>
              </a:rPr>
              <a:t>Bet History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6217920" y="3730752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</a:rPr>
              <a:t>Real-time statuses, auto-calculation of winnings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6EE7B7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FF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112E22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3619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3716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External APIs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173736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</a:rPr>
              <a:t>API-Football / PandaScore / API-Basketball / API-Hockey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834640" y="2267712"/>
            <a:ext cx="0" cy="164592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2432304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112E22"/>
          </a:solidFill>
          <a:ln w="19050">
            <a:solidFill>
              <a:srgbClr val="EAB30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06624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5420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B308"/>
                </a:solidFill>
              </a:rPr>
              <a:t>Proxy Backend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05840" y="2907792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</a:rPr>
              <a:t>Node.js Express → Render.com → CORS + Rate-limit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2834640" y="3438144"/>
            <a:ext cx="0" cy="164592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4320" y="3602736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112E22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77056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37124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Frontend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005840" y="4078224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</a:rPr>
              <a:t>HTML + Vanilla JS → UI / Betslip / Live / History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669280" y="1261872"/>
            <a:ext cx="3246120" cy="2633472"/>
          </a:xfrm>
          <a:prstGeom prst="roundRect">
            <a:avLst>
              <a:gd name="adj" fmla="val 5208"/>
            </a:avLst>
          </a:prstGeom>
          <a:solidFill>
            <a:srgbClr val="112E22"/>
          </a:solidFill>
          <a:ln w="2286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137160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09360" y="13990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4899"/>
                </a:solidFill>
              </a:rPr>
              <a:t>Firebase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5806440" y="1901952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C2419"/>
          </a:solidFill>
          <a:ln/>
        </p:spPr>
      </p:sp>
      <p:sp>
        <p:nvSpPr>
          <p:cNvPr id="22" name="Text 16"/>
          <p:cNvSpPr/>
          <p:nvPr/>
        </p:nvSpPr>
        <p:spPr>
          <a:xfrm>
            <a:off x="5806440" y="19019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FFF8"/>
                </a:solidFill>
              </a:rPr>
              <a:t>Firestore — balance / profile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806440" y="2496312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C2419"/>
          </a:solidFill>
          <a:ln/>
        </p:spPr>
      </p:sp>
      <p:sp>
        <p:nvSpPr>
          <p:cNvPr id="24" name="Text 18"/>
          <p:cNvSpPr/>
          <p:nvPr/>
        </p:nvSpPr>
        <p:spPr>
          <a:xfrm>
            <a:off x="5806440" y="24963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FFF8"/>
                </a:solidFill>
              </a:rPr>
              <a:t>Firestore — bet history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806440" y="3090672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C2419"/>
          </a:solidFill>
          <a:ln/>
        </p:spPr>
      </p:sp>
      <p:sp>
        <p:nvSpPr>
          <p:cNvPr id="26" name="Text 20"/>
          <p:cNvSpPr/>
          <p:nvPr/>
        </p:nvSpPr>
        <p:spPr>
          <a:xfrm>
            <a:off x="5806440" y="3090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FFF8"/>
                </a:solidFill>
              </a:rPr>
              <a:t>Auth — user sessions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669280" y="4041648"/>
            <a:ext cx="3246120" cy="777240"/>
          </a:xfrm>
          <a:prstGeom prst="roundRect">
            <a:avLst>
              <a:gd name="adj" fmla="val 14118"/>
            </a:avLst>
          </a:prstGeom>
          <a:solidFill>
            <a:srgbClr val="112E22"/>
          </a:solidFill>
          <a:ln w="15240">
            <a:solidFill>
              <a:srgbClr val="1C4A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72" y="4160520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272784" y="416966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</a:rPr>
              <a:t>LocalStorage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6272784" y="44622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7A62"/>
                </a:solidFill>
              </a:rPr>
              <a:t>Fallback cache for history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6EE7B7"/>
                </a:solidFill>
              </a:rPr>
              <a:t>HONEST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FF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Takeaways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069080" cy="3611880"/>
          </a:xfrm>
          <a:prstGeom prst="roundRect">
            <a:avLst>
              <a:gd name="adj" fmla="val 3797"/>
            </a:avLst>
          </a:prstGeom>
          <a:solidFill>
            <a:srgbClr val="112E22"/>
          </a:solidFill>
          <a:ln w="2286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32588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3533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11480" y="1828800"/>
            <a:ext cx="3794760" cy="594360"/>
          </a:xfrm>
          <a:prstGeom prst="roundRect">
            <a:avLst>
              <a:gd name="adj" fmla="val 12308"/>
            </a:avLst>
          </a:prstGeom>
          <a:solidFill>
            <a:srgbClr val="1A0A0A"/>
          </a:solidFill>
          <a:ln/>
        </p:spPr>
      </p:sp>
      <p:sp>
        <p:nvSpPr>
          <p:cNvPr id="8" name="Text 5"/>
          <p:cNvSpPr/>
          <p:nvPr/>
        </p:nvSpPr>
        <p:spPr>
          <a:xfrm>
            <a:off x="530352" y="187452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No final scores from free APIs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0352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</a:rPr>
              <a:t>Free APIs don't return final results — auto-settlement unavailable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1480" y="2532888"/>
            <a:ext cx="3794760" cy="594360"/>
          </a:xfrm>
          <a:prstGeom prst="roundRect">
            <a:avLst>
              <a:gd name="adj" fmla="val 12308"/>
            </a:avLst>
          </a:prstGeom>
          <a:solidFill>
            <a:srgbClr val="1A0A0A"/>
          </a:solidFill>
          <a:ln/>
        </p:spPr>
      </p:sp>
      <p:sp>
        <p:nvSpPr>
          <p:cNvPr id="11" name="Text 8"/>
          <p:cNvSpPr/>
          <p:nvPr/>
        </p:nvSpPr>
        <p:spPr>
          <a:xfrm>
            <a:off x="530352" y="25786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Manual match updates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30352" y="2807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</a:rPr>
              <a:t>Results are entered manually via Firebase Console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" y="3236976"/>
            <a:ext cx="3794760" cy="594360"/>
          </a:xfrm>
          <a:prstGeom prst="roundRect">
            <a:avLst>
              <a:gd name="adj" fmla="val 12308"/>
            </a:avLst>
          </a:prstGeom>
          <a:solidFill>
            <a:srgbClr val="1A0A0A"/>
          </a:solidFill>
          <a:ln/>
        </p:spPr>
      </p:sp>
      <p:sp>
        <p:nvSpPr>
          <p:cNvPr id="14" name="Text 11"/>
          <p:cNvSpPr/>
          <p:nvPr/>
        </p:nvSpPr>
        <p:spPr>
          <a:xfrm>
            <a:off x="530352" y="328269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CS2 live only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30352" y="35112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</a:rPr>
              <a:t>Full live mode available only for esports via PandaScore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1480" y="3941064"/>
            <a:ext cx="3794760" cy="594360"/>
          </a:xfrm>
          <a:prstGeom prst="roundRect">
            <a:avLst>
              <a:gd name="adj" fmla="val 12308"/>
            </a:avLst>
          </a:prstGeom>
          <a:solidFill>
            <a:srgbClr val="1A0A0A"/>
          </a:solidFill>
          <a:ln/>
        </p:spPr>
      </p:sp>
      <p:sp>
        <p:nvSpPr>
          <p:cNvPr id="17" name="Text 14"/>
          <p:cNvSpPr/>
          <p:nvPr/>
        </p:nvSpPr>
        <p:spPr>
          <a:xfrm>
            <a:off x="530352" y="398678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No E2E tests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30352" y="42153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</a:rPr>
              <a:t>Without a paid API the full flow can't be tested end-to-end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0" y="1207008"/>
            <a:ext cx="4251960" cy="3611880"/>
          </a:xfrm>
          <a:prstGeom prst="roundRect">
            <a:avLst>
              <a:gd name="adj" fmla="val 3797"/>
            </a:avLst>
          </a:prstGeom>
          <a:solidFill>
            <a:srgbClr val="112E22"/>
          </a:solidFill>
          <a:ln w="2286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325880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12080" y="13533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What I Learned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4709160" y="178308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0A1F14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89280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66360" y="18470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FF8"/>
                </a:solidFill>
              </a:rPr>
              <a:t>Real sports API integration + normalization of different data formats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709160" y="2368296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0A1F14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478024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166360" y="243230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FF8"/>
                </a:solidFill>
              </a:rPr>
              <a:t>Optimistic UI + Firestore sync for balance management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709160" y="2953512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0A1F14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063240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166360" y="30175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FF8"/>
                </a:solidFill>
              </a:rPr>
              <a:t>Dynamic cash-out logic based on live score and match progress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709160" y="3538728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0A1F14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648456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166360" y="36027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FF8"/>
                </a:solidFill>
              </a:rPr>
              <a:t>Firebase Auth + Firestore as a single source of truth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709160" y="4123944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0A1F14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4233672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166360" y="41879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FF8"/>
                </a:solidFill>
              </a:rPr>
              <a:t>Express proxy: CORS, rate-limiting, routing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Ludomanski Budni — EN</dc:title>
  <dc:subject>PptxGenJS Presentation</dc:subject>
  <dc:creator>PptxGenJS</dc:creator>
  <cp:lastModifiedBy>PptxGenJS</cp:lastModifiedBy>
  <cp:revision>1</cp:revision>
  <dcterms:created xsi:type="dcterms:W3CDTF">2026-06-16T06:31:38Z</dcterms:created>
  <dcterms:modified xsi:type="dcterms:W3CDTF">2026-06-16T06:31:38Z</dcterms:modified>
</cp:coreProperties>
</file>