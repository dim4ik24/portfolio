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471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8321040" cy="4160520"/>
          </a:xfrm>
          <a:prstGeom prst="roundRect">
            <a:avLst>
              <a:gd name="adj" fmla="val 4835"/>
            </a:avLst>
          </a:prstGeom>
          <a:solidFill>
            <a:srgbClr val="14302E"/>
          </a:solidFill>
          <a:ln w="12700">
            <a:solidFill>
              <a:srgbClr val="2A504A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474720" y="749808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1C4A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498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Ludomanski Budni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ставок на спорт — навчальний full-stack проект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907792"/>
            <a:ext cx="27432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1540" y="309067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1C4A40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66060" y="309067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1C4A40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606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0580" y="309067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1C4A40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058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5100" y="309067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1C4A40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510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 проект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794760"/>
          </a:xfrm>
          <a:prstGeom prst="roundRect">
            <a:avLst>
              <a:gd name="adj" fmla="val 4819"/>
            </a:avLst>
          </a:prstGeom>
          <a:solidFill>
            <a:srgbClr val="14302E"/>
          </a:solidFill>
          <a:ln w="12700">
            <a:solidFill>
              <a:srgbClr val="2A504A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LUDOMANSKI BUDNI  •  202</a:t>
            </a:r>
            <a:r>
              <a:rPr lang="uk-UA" sz="9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Навчальна букмекерська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платформа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2926080" cy="0"/>
          </a:xfrm>
          <a:prstGeom prst="line">
            <a:avLst/>
          </a:prstGeom>
          <a:noFill/>
          <a:ln w="9525">
            <a:solidFill>
              <a:srgbClr val="4A6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24912"/>
            <a:ext cx="237744" cy="237744"/>
          </a:xfrm>
          <a:prstGeom prst="ellipse">
            <a:avLst/>
          </a:prstGeom>
          <a:solidFill>
            <a:srgbClr val="1C4A4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70662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видів спорту — Football, CS2, UFC, F1 та інші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237744" cy="237744"/>
          </a:xfrm>
          <a:prstGeom prst="ellipse">
            <a:avLst/>
          </a:prstGeom>
          <a:solidFill>
            <a:srgbClr val="1C4A4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272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13639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зовнішніх API з нормалізацією даних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237744" cy="237744"/>
          </a:xfrm>
          <a:prstGeom prst="ellipse">
            <a:avLst/>
          </a:prstGeom>
          <a:solidFill>
            <a:srgbClr val="1C4A4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5701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— баланс, профіль, ставки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19472" y="1600200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6002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0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Футбол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788152" y="1600200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122C24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88152" y="16002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🏀 Баскет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656832" y="1600200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122C24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16002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CS2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525512" y="1600200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122C24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16002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🏒 Хокей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919472" y="2029968"/>
            <a:ext cx="3511296" cy="1097280"/>
          </a:xfrm>
          <a:prstGeom prst="roundRect">
            <a:avLst>
              <a:gd name="adj" fmla="val 10000"/>
            </a:avLst>
          </a:prstGeom>
          <a:solidFill>
            <a:srgbClr val="102820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2103120"/>
            <a:ext cx="731520" cy="219456"/>
          </a:xfrm>
          <a:prstGeom prst="roundRect">
            <a:avLst>
              <a:gd name="adj" fmla="val 33333"/>
            </a:avLst>
          </a:prstGeom>
          <a:solidFill>
            <a:srgbClr val="7F1D1D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67'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992624" y="2121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City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92624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19472" y="2779776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77977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П1  2.1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89904" y="2779776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9904" y="277977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3.4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60336" y="2779776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0336" y="277977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П2  3.8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05472" y="3337560"/>
            <a:ext cx="594360" cy="219456"/>
          </a:xfrm>
          <a:prstGeom prst="roundRect">
            <a:avLst>
              <a:gd name="adj" fmla="val 33333"/>
            </a:avLst>
          </a:prstGeom>
          <a:solidFill>
            <a:srgbClr val="122C24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33375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992624" y="3355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92624" y="3611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19472" y="401421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89904" y="401421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260336" y="401421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070BFB10-FE19-44AE-BC63-411012F19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54480"/>
            <a:ext cx="4446410" cy="2632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7"/>
            <a:ext cx="8229600" cy="657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chemeClr val="bg1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ТЕХНІЧНИЙ СТЕК</a:t>
            </a:r>
            <a:endParaRPr lang="en-US"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53212" y="960120"/>
            <a:ext cx="1920240" cy="3886200"/>
          </a:xfrm>
          <a:prstGeom prst="roundRect">
            <a:avLst>
              <a:gd name="adj" fmla="val 8571"/>
            </a:avLst>
          </a:prstGeom>
          <a:solidFill>
            <a:srgbClr val="14302E"/>
          </a:solidFill>
          <a:ln w="19050">
            <a:solidFill>
              <a:srgbClr val="2DD4BF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7572" y="1078992"/>
            <a:ext cx="731520" cy="731520"/>
          </a:xfrm>
          <a:prstGeom prst="ellipse">
            <a:avLst/>
          </a:prstGeom>
          <a:solidFill>
            <a:srgbClr val="1C4A4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" y="2423160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" y="2423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ES2022+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" y="2990088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" y="3557016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" y="35570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JS SDK v12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" y="4123944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" y="41239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92324" y="960120"/>
            <a:ext cx="1920240" cy="3886200"/>
          </a:xfrm>
          <a:prstGeom prst="roundRect">
            <a:avLst>
              <a:gd name="adj" fmla="val 8571"/>
            </a:avLst>
          </a:prstGeom>
          <a:solidFill>
            <a:srgbClr val="14302E"/>
          </a:solidFill>
          <a:ln w="19050">
            <a:solidFill>
              <a:srgbClr val="FCD34D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6684" y="1078992"/>
            <a:ext cx="731520" cy="731520"/>
          </a:xfrm>
          <a:prstGeom prst="ellipse">
            <a:avLst/>
          </a:prstGeom>
          <a:solidFill>
            <a:srgbClr val="1C4A40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6684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83764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83764" y="2423160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3764" y="2423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83764" y="2990088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83764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Proxy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83764" y="3557016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3764" y="35570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Rate-limit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83764" y="4123944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3764" y="41239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deploy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1436" y="960120"/>
            <a:ext cx="1920240" cy="3886200"/>
          </a:xfrm>
          <a:prstGeom prst="roundRect">
            <a:avLst>
              <a:gd name="adj" fmla="val 8571"/>
            </a:avLst>
          </a:prstGeom>
          <a:solidFill>
            <a:srgbClr val="14302E"/>
          </a:solidFill>
          <a:ln w="19050">
            <a:solidFill>
              <a:srgbClr val="4ADE80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25796" y="1078992"/>
            <a:ext cx="731520" cy="731520"/>
          </a:xfrm>
          <a:prstGeom prst="ellipse">
            <a:avLst/>
          </a:prstGeom>
          <a:solidFill>
            <a:srgbClr val="1C4A4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25796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22876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Дані / Auth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22876" y="2423160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2876" y="2423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2876" y="2990088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2876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22876" y="3557016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2876" y="35570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cache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22876" y="4123944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22876" y="41239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flow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0548" y="960120"/>
            <a:ext cx="1920240" cy="3886200"/>
          </a:xfrm>
          <a:prstGeom prst="roundRect">
            <a:avLst>
              <a:gd name="adj" fmla="val 8571"/>
            </a:avLst>
          </a:prstGeom>
          <a:solidFill>
            <a:srgbClr val="14302E"/>
          </a:solidFill>
          <a:ln w="19050">
            <a:solidFill>
              <a:srgbClr val="F472B6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64908" y="1078992"/>
            <a:ext cx="731520" cy="731520"/>
          </a:xfrm>
          <a:prstGeom prst="ellipse">
            <a:avLst/>
          </a:prstGeom>
          <a:solidFill>
            <a:srgbClr val="1C4A40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4908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61988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Зовнішні API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761988" y="2423160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1988" y="2423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API-Football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1988" y="2990088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1988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PandaScore CS2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1988" y="3557016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1988" y="35570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API-Basketball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1988" y="4123944"/>
            <a:ext cx="1737360" cy="475488"/>
          </a:xfrm>
          <a:prstGeom prst="roundRect">
            <a:avLst>
              <a:gd name="adj" fmla="val 17308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1988" y="41239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API-Hockey / MMA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ФУНКЦІЇ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вміє платформа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70048" cy="1444752"/>
          </a:xfrm>
          <a:prstGeom prst="roundRect">
            <a:avLst>
              <a:gd name="adj" fmla="val 11392"/>
            </a:avLst>
          </a:prstGeom>
          <a:solidFill>
            <a:srgbClr val="14302E"/>
          </a:solidFill>
          <a:ln w="12700">
            <a:solidFill>
              <a:srgbClr val="2A504A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170432"/>
            <a:ext cx="566928" cy="566928"/>
          </a:xfrm>
          <a:prstGeom prst="ellipse">
            <a:avLst/>
          </a:prstGeom>
          <a:solidFill>
            <a:srgbClr val="1C4A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4712" y="113385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&amp; Upcoming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81051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Реальні матчі з live-статусами, рахунками та хвилинами матчу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27248" y="1005840"/>
            <a:ext cx="2670048" cy="1444752"/>
          </a:xfrm>
          <a:prstGeom prst="roundRect">
            <a:avLst>
              <a:gd name="adj" fmla="val 11392"/>
            </a:avLst>
          </a:prstGeom>
          <a:solidFill>
            <a:srgbClr val="14302E"/>
          </a:solidFill>
          <a:ln w="12700">
            <a:solidFill>
              <a:srgbClr val="2A504A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70432"/>
            <a:ext cx="566928" cy="566928"/>
          </a:xfrm>
          <a:prstGeom prst="ellipse">
            <a:avLst/>
          </a:prstGeom>
          <a:solidFill>
            <a:srgbClr val="1C4A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🎫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113385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Betslip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81051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Накопичувальний купон, підрахунок загального коефіцієнта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34456" y="1005840"/>
            <a:ext cx="2670048" cy="1444752"/>
          </a:xfrm>
          <a:prstGeom prst="roundRect">
            <a:avLst>
              <a:gd name="adj" fmla="val 11392"/>
            </a:avLst>
          </a:prstGeom>
          <a:solidFill>
            <a:srgbClr val="14302E"/>
          </a:solidFill>
          <a:ln w="12700">
            <a:solidFill>
              <a:srgbClr val="2A504A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99048" y="1170432"/>
            <a:ext cx="566928" cy="566928"/>
          </a:xfrm>
          <a:prstGeom prst="ellipse">
            <a:avLst/>
          </a:prstGeom>
          <a:solidFill>
            <a:srgbClr val="1C4A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39128" y="113385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Cash-out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9048" y="181051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Динамічна сума кешауту на основі прогресу і рахунку матчу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615184"/>
            <a:ext cx="2670048" cy="1444752"/>
          </a:xfrm>
          <a:prstGeom prst="roundRect">
            <a:avLst>
              <a:gd name="adj" fmla="val 11392"/>
            </a:avLst>
          </a:prstGeom>
          <a:solidFill>
            <a:srgbClr val="14302E"/>
          </a:solidFill>
          <a:ln w="12700">
            <a:solidFill>
              <a:srgbClr val="2A504A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" y="2779776"/>
            <a:ext cx="566928" cy="566928"/>
          </a:xfrm>
          <a:prstGeom prst="ellipse">
            <a:avLst/>
          </a:prstGeom>
          <a:solidFill>
            <a:srgbClr val="1C4A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7432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видів спорту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41985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Футбол, CS2, баскетбол, хокей, UFC, бокс, волейбол, F1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27248" y="2615184"/>
            <a:ext cx="2670048" cy="1444752"/>
          </a:xfrm>
          <a:prstGeom prst="roundRect">
            <a:avLst>
              <a:gd name="adj" fmla="val 11392"/>
            </a:avLst>
          </a:prstGeom>
          <a:solidFill>
            <a:srgbClr val="14302E"/>
          </a:solidFill>
          <a:ln w="12700">
            <a:solidFill>
              <a:srgbClr val="2A504A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779776"/>
            <a:ext cx="566928" cy="566928"/>
          </a:xfrm>
          <a:prstGeom prst="ellipse">
            <a:avLst/>
          </a:prstGeom>
          <a:solidFill>
            <a:srgbClr val="1C4A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31920" y="27432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Пошук і фільтри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41985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команд, сортування ліг (Топ-5, Євро, інші)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34456" y="2615184"/>
            <a:ext cx="2670048" cy="1444752"/>
          </a:xfrm>
          <a:prstGeom prst="roundRect">
            <a:avLst>
              <a:gd name="adj" fmla="val 11392"/>
            </a:avLst>
          </a:prstGeom>
          <a:solidFill>
            <a:srgbClr val="14302E"/>
          </a:solidFill>
          <a:ln w="12700">
            <a:solidFill>
              <a:srgbClr val="2A504A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99048" y="2779776"/>
            <a:ext cx="566928" cy="566928"/>
          </a:xfrm>
          <a:prstGeom prst="ellipse">
            <a:avLst/>
          </a:prstGeom>
          <a:solidFill>
            <a:srgbClr val="1C4A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9048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39128" y="27432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Історія ставок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99048" y="341985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Статуси в реальному часі, авто-розрахунок виграшів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це працює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303520" cy="1005840"/>
          </a:xfrm>
          <a:prstGeom prst="roundRect">
            <a:avLst>
              <a:gd name="adj" fmla="val 14545"/>
            </a:avLst>
          </a:prstGeom>
          <a:solidFill>
            <a:srgbClr val="14302E"/>
          </a:solidFill>
          <a:ln w="25400">
            <a:solidFill>
              <a:srgbClr val="2DD4BF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Зовнішні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API-Football / PandaScore / API-Basketball / API-Hockey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2011680"/>
            <a:ext cx="0" cy="228600"/>
          </a:xfrm>
          <a:prstGeom prst="line">
            <a:avLst/>
          </a:prstGeom>
          <a:noFill/>
          <a:ln w="25400">
            <a:solidFill>
              <a:srgbClr val="2DD4B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0040" y="2240280"/>
            <a:ext cx="5303520" cy="1005840"/>
          </a:xfrm>
          <a:prstGeom prst="roundRect">
            <a:avLst>
              <a:gd name="adj" fmla="val 14545"/>
            </a:avLst>
          </a:prstGeom>
          <a:solidFill>
            <a:srgbClr val="14302E"/>
          </a:solidFill>
          <a:ln w="25400">
            <a:solidFill>
              <a:srgbClr val="FCD34D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317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 Proxy 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Express  →  Render.com  →  CORS + Rate-limit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3246120"/>
            <a:ext cx="0" cy="228600"/>
          </a:xfrm>
          <a:prstGeom prst="line">
            <a:avLst/>
          </a:prstGeom>
          <a:noFill/>
          <a:ln w="25400">
            <a:solidFill>
              <a:srgbClr val="FCD34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040" y="3474720"/>
            <a:ext cx="5303520" cy="1005840"/>
          </a:xfrm>
          <a:prstGeom prst="roundRect">
            <a:avLst>
              <a:gd name="adj" fmla="val 14545"/>
            </a:avLst>
          </a:prstGeom>
          <a:solidFill>
            <a:srgbClr val="14302E"/>
          </a:solidFill>
          <a:ln w="25400">
            <a:solidFill>
              <a:srgbClr val="4ADE80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5661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🖥️   Frontend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9502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Vanilla JS  →  UI / Betslip / Live / History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005840"/>
            <a:ext cx="2880360" cy="2331720"/>
          </a:xfrm>
          <a:prstGeom prst="roundRect">
            <a:avLst>
              <a:gd name="adj" fmla="val 7059"/>
            </a:avLst>
          </a:prstGeom>
          <a:solidFill>
            <a:srgbClr val="14302E"/>
          </a:solidFill>
          <a:ln w="25400">
            <a:solidFill>
              <a:srgbClr val="F472B6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115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☁️  Firebase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627632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62763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— баланс / профіль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2176272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1762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— історія ставок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2724912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0A2018"/>
          </a:solidFill>
          <a:ln w="12700">
            <a:solidFill>
              <a:srgbClr val="2A5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72491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сесії користувачів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3493008"/>
            <a:ext cx="2880360" cy="749808"/>
          </a:xfrm>
          <a:prstGeom prst="roundRect">
            <a:avLst>
              <a:gd name="adj" fmla="val 19512"/>
            </a:avLst>
          </a:prstGeom>
          <a:solidFill>
            <a:srgbClr val="14302E"/>
          </a:solidFill>
          <a:ln w="12700">
            <a:solidFill>
              <a:srgbClr val="7A9E8E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5661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💾  LocalStorage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3877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Fallback-кеш для history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ЧЕСНА ОЦІНКА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Обмеження та висновки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840480"/>
          </a:xfrm>
          <a:prstGeom prst="roundRect">
            <a:avLst>
              <a:gd name="adj" fmla="val 4762"/>
            </a:avLst>
          </a:prstGeom>
          <a:solidFill>
            <a:srgbClr val="14302E"/>
          </a:solidFill>
          <a:ln w="25400">
            <a:solidFill>
              <a:srgbClr val="F87171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Обмеження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886200" cy="658368"/>
          </a:xfrm>
          <a:prstGeom prst="roundRect">
            <a:avLst>
              <a:gd name="adj" fmla="val 13889"/>
            </a:avLst>
          </a:prstGeom>
          <a:solidFill>
            <a:srgbClr val="1A0C0C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824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без фіналів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Безкоштовні API не повертають фінальний рахунок — авто-закриття ставок недоступне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3886200" cy="658368"/>
          </a:xfrm>
          <a:prstGeom prst="roundRect">
            <a:avLst>
              <a:gd name="adj" fmla="val 13889"/>
            </a:avLst>
          </a:prstGeom>
          <a:solidFill>
            <a:srgbClr val="1A0C0C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414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Ручні оновлення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матчів вносяться вручну через Firebase Console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3886200" cy="658368"/>
          </a:xfrm>
          <a:prstGeom prst="roundRect">
            <a:avLst>
              <a:gd name="adj" fmla="val 13889"/>
            </a:avLst>
          </a:prstGeom>
          <a:solidFill>
            <a:srgbClr val="1A0C0C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004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 live only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live-режим працює лише для кіберспорту (PandaScore)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904488"/>
            <a:ext cx="3886200" cy="658368"/>
          </a:xfrm>
          <a:prstGeom prst="roundRect">
            <a:avLst>
              <a:gd name="adj" fmla="val 13889"/>
            </a:avLst>
          </a:prstGeom>
          <a:solidFill>
            <a:srgbClr val="1A0C0C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593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E2E-тести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42153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платного API неможливо протестувати весь flow від початку до кінця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60520" cy="3840480"/>
          </a:xfrm>
          <a:prstGeom prst="roundRect">
            <a:avLst>
              <a:gd name="adj" fmla="val 4762"/>
            </a:avLst>
          </a:prstGeom>
          <a:solidFill>
            <a:srgbClr val="14302E"/>
          </a:solidFill>
          <a:ln w="25400">
            <a:solidFill>
              <a:srgbClr val="4ADE80"/>
            </a:solidFill>
            <a:prstDash val="solid"/>
          </a:ln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0789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Що вивчив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00600" y="1627632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0A1F10"/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276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Інтеграція з реальними спортивними API + нормалізація різних форматів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258568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0A1F10"/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5856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Optimistic UI + Firestore sync для балансу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889504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0A1F10"/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8950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Динамічна логіка кешауту на основі live-рахунку та прогресу матчу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520440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0A1F10"/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52044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Firebase Auth + Firestore як єдиний стан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4151376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0A1F10"/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15137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Express proxy: CORS, rate-limit, routing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394</Words>
  <Application>Microsoft Office PowerPoint</Application>
  <PresentationFormat>Екран (16:9)</PresentationFormat>
  <Paragraphs>112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Berlin Sans FB Demi</vt:lpstr>
      <vt:lpstr>Calibri</vt:lpstr>
      <vt:lpstr>Cambria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Ludomanski Budni — Portfolio</dc:title>
  <dc:subject>PptxGenJS Presentation</dc:subject>
  <dc:creator>PptxGenJS</dc:creator>
  <cp:lastModifiedBy>Дмитро Вілігоцький</cp:lastModifiedBy>
  <cp:revision>3</cp:revision>
  <dcterms:created xsi:type="dcterms:W3CDTF">2026-06-09T05:02:02Z</dcterms:created>
  <dcterms:modified xsi:type="dcterms:W3CDTF">2026-06-11T06:53:51Z</dcterms:modified>
</cp:coreProperties>
</file>